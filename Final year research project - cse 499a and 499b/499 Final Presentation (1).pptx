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9753600" cy="7315200"/>
  <p:notesSz cx="6858000" cy="9144000"/>
  <p:embeddedFontLst>
    <p:embeddedFont>
      <p:font typeface="Impact" charset="1" panose="020B0806030902050204"/>
      <p:regular r:id="rId16"/>
    </p:embeddedFont>
    <p:embeddedFont>
      <p:font typeface="Arial" charset="1" panose="020B0502020202020204"/>
      <p:regular r:id="rId17"/>
    </p:embeddedFont>
    <p:embeddedFont>
      <p:font typeface="Arial Bold" charset="1" panose="020B0802020202020204"/>
      <p:regular r:id="rId18"/>
    </p:embeddedFont>
    <p:embeddedFont>
      <p:font typeface="Canva Sans Bold" charset="1" panose="020B0803030501040103"/>
      <p:regular r:id="rId19"/>
    </p:embeddedFont>
    <p:embeddedFont>
      <p:font typeface="Canva Sans" charset="1" panose="020B0503030501040103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78367" y="0"/>
            <a:ext cx="7775233" cy="6583680"/>
            <a:chOff x="0" y="0"/>
            <a:chExt cx="2879716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79716" cy="2438400"/>
            </a:xfrm>
            <a:custGeom>
              <a:avLst/>
              <a:gdLst/>
              <a:ahLst/>
              <a:cxnLst/>
              <a:rect r="r" b="b" t="t" l="l"/>
              <a:pathLst>
                <a:path h="2438400" w="2879716">
                  <a:moveTo>
                    <a:pt x="0" y="0"/>
                  </a:moveTo>
                  <a:lnTo>
                    <a:pt x="2879716" y="0"/>
                  </a:lnTo>
                  <a:lnTo>
                    <a:pt x="2879716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2879716" cy="2505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30249" y="6583680"/>
            <a:ext cx="10015843" cy="731520"/>
            <a:chOff x="0" y="0"/>
            <a:chExt cx="3709571" cy="270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709572" cy="270933"/>
            </a:xfrm>
            <a:custGeom>
              <a:avLst/>
              <a:gdLst/>
              <a:ahLst/>
              <a:cxnLst/>
              <a:rect r="r" b="b" t="t" l="l"/>
              <a:pathLst>
                <a:path h="270933" w="3709572">
                  <a:moveTo>
                    <a:pt x="0" y="0"/>
                  </a:moveTo>
                  <a:lnTo>
                    <a:pt x="3709572" y="0"/>
                  </a:lnTo>
                  <a:lnTo>
                    <a:pt x="370957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92929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3709571" cy="337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1766101" y="0"/>
            <a:ext cx="3744468" cy="6583680"/>
          </a:xfrm>
          <a:custGeom>
            <a:avLst/>
            <a:gdLst/>
            <a:ahLst/>
            <a:cxnLst/>
            <a:rect r="r" b="b" t="t" l="l"/>
            <a:pathLst>
              <a:path h="6583680" w="3744468">
                <a:moveTo>
                  <a:pt x="0" y="0"/>
                </a:moveTo>
                <a:lnTo>
                  <a:pt x="3744468" y="0"/>
                </a:lnTo>
                <a:lnTo>
                  <a:pt x="3744468" y="6583680"/>
                </a:lnTo>
                <a:lnTo>
                  <a:pt x="0" y="65836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481603" y="1301384"/>
            <a:ext cx="2859043" cy="5282296"/>
          </a:xfrm>
          <a:custGeom>
            <a:avLst/>
            <a:gdLst/>
            <a:ahLst/>
            <a:cxnLst/>
            <a:rect r="r" b="b" t="t" l="l"/>
            <a:pathLst>
              <a:path h="5282296" w="2859043">
                <a:moveTo>
                  <a:pt x="0" y="0"/>
                </a:moveTo>
                <a:lnTo>
                  <a:pt x="2859043" y="0"/>
                </a:lnTo>
                <a:lnTo>
                  <a:pt x="2859043" y="5282296"/>
                </a:lnTo>
                <a:lnTo>
                  <a:pt x="0" y="52822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558653" y="5632290"/>
            <a:ext cx="777240" cy="777240"/>
          </a:xfrm>
          <a:custGeom>
            <a:avLst/>
            <a:gdLst/>
            <a:ahLst/>
            <a:cxnLst/>
            <a:rect r="r" b="b" t="t" l="l"/>
            <a:pathLst>
              <a:path h="777240" w="777240">
                <a:moveTo>
                  <a:pt x="0" y="0"/>
                </a:moveTo>
                <a:lnTo>
                  <a:pt x="777240" y="0"/>
                </a:lnTo>
                <a:lnTo>
                  <a:pt x="777240" y="777240"/>
                </a:lnTo>
                <a:lnTo>
                  <a:pt x="0" y="7772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978367" y="279173"/>
            <a:ext cx="7775233" cy="2108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sz="4800">
                <a:solidFill>
                  <a:srgbClr val="0097B2"/>
                </a:solidFill>
                <a:latin typeface="Impact"/>
                <a:ea typeface="Impact"/>
                <a:cs typeface="Impact"/>
                <a:sym typeface="Impact"/>
              </a:rPr>
              <a:t>UNVEILING PII IN PRE-TRAINED MODELS: INVESTIGATING DATA ACCOUNTABILITY IN LLMS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699929" y="4858305"/>
            <a:ext cx="3534750" cy="872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Transforming Business and Technology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260959" y="3027655"/>
            <a:ext cx="5395639" cy="1628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7043" indent="-163522" lvl="1">
              <a:lnSpc>
                <a:spcPts val="2120"/>
              </a:lnSpc>
              <a:spcBef>
                <a:spcPct val="0"/>
              </a:spcBef>
              <a:buFont typeface="Arial"/>
              <a:buChar char="•"/>
            </a:pPr>
            <a:r>
              <a:rPr lang="en-US" sz="1514">
                <a:solidFill>
                  <a:srgbClr val="FAB536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lang="en-US" sz="1514">
                <a:solidFill>
                  <a:srgbClr val="FAB536"/>
                </a:solidFill>
                <a:latin typeface="Arial"/>
                <a:ea typeface="Arial"/>
                <a:cs typeface="Arial"/>
                <a:sym typeface="Arial"/>
              </a:rPr>
              <a:t>ocuses on privacy risks in Large Language Models (LLMs).</a:t>
            </a:r>
          </a:p>
          <a:p>
            <a:pPr algn="l" marL="327043" indent="-163522" lvl="1">
              <a:lnSpc>
                <a:spcPts val="2120"/>
              </a:lnSpc>
              <a:spcBef>
                <a:spcPct val="0"/>
              </a:spcBef>
              <a:buFont typeface="Arial"/>
              <a:buChar char="•"/>
            </a:pPr>
            <a:r>
              <a:rPr lang="en-US" sz="1514">
                <a:solidFill>
                  <a:srgbClr val="FAB536"/>
                </a:solidFill>
                <a:latin typeface="Arial"/>
                <a:ea typeface="Arial"/>
                <a:cs typeface="Arial"/>
                <a:sym typeface="Arial"/>
              </a:rPr>
              <a:t>Examines exposure to Personally Identifiable Information (PII) during pretraining.</a:t>
            </a:r>
          </a:p>
          <a:p>
            <a:pPr algn="l" marL="327043" indent="-163522" lvl="1">
              <a:lnSpc>
                <a:spcPts val="2120"/>
              </a:lnSpc>
              <a:spcBef>
                <a:spcPct val="0"/>
              </a:spcBef>
              <a:buFont typeface="Arial"/>
              <a:buChar char="•"/>
            </a:pPr>
            <a:r>
              <a:rPr lang="en-US" sz="1514">
                <a:solidFill>
                  <a:srgbClr val="FAB536"/>
                </a:solidFill>
                <a:latin typeface="Arial"/>
                <a:ea typeface="Arial"/>
                <a:cs typeface="Arial"/>
                <a:sym typeface="Arial"/>
              </a:rPr>
              <a:t>Aims to understand and mitigate these risks.</a:t>
            </a:r>
          </a:p>
          <a:p>
            <a:pPr algn="l">
              <a:lnSpc>
                <a:spcPts val="212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591070" y="5141188"/>
            <a:ext cx="2162530" cy="1732727"/>
          </a:xfrm>
          <a:custGeom>
            <a:avLst/>
            <a:gdLst/>
            <a:ahLst/>
            <a:cxnLst/>
            <a:rect r="r" b="b" t="t" l="l"/>
            <a:pathLst>
              <a:path h="1732727" w="2162530">
                <a:moveTo>
                  <a:pt x="0" y="0"/>
                </a:moveTo>
                <a:lnTo>
                  <a:pt x="2162530" y="0"/>
                </a:lnTo>
                <a:lnTo>
                  <a:pt x="2162530" y="1732727"/>
                </a:lnTo>
                <a:lnTo>
                  <a:pt x="0" y="17327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27712" y="1636746"/>
            <a:ext cx="6898175" cy="3504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667" u="sng" b="true">
                <a:solidFill>
                  <a:srgbClr val="FAB536"/>
                </a:solidFill>
                <a:latin typeface="Arial Bold"/>
                <a:ea typeface="Arial Bold"/>
                <a:cs typeface="Arial Bold"/>
                <a:sym typeface="Arial Bold"/>
              </a:rPr>
              <a:t>MIN-K%:</a:t>
            </a:r>
          </a:p>
          <a:p>
            <a:pPr algn="l" marL="359948" indent="-179974" lvl="1">
              <a:lnSpc>
                <a:spcPts val="2000"/>
              </a:lnSpc>
              <a:buFont typeface="Arial"/>
              <a:buChar char="•"/>
            </a:pPr>
            <a:r>
              <a:rPr lang="en-US" sz="166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Measures the smallest K% log-probabilities.</a:t>
            </a:r>
          </a:p>
          <a:p>
            <a:pPr algn="l" marL="359948" indent="-179974" lvl="1">
              <a:lnSpc>
                <a:spcPts val="2000"/>
              </a:lnSpc>
              <a:buFont typeface="Arial"/>
              <a:buChar char="•"/>
            </a:pPr>
            <a:r>
              <a:rPr lang="en-US" sz="166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Focuses on the most uncertain tokens in a sample.</a:t>
            </a:r>
          </a:p>
          <a:p>
            <a:pPr algn="l" marL="359948" indent="-179974" lvl="1">
              <a:lnSpc>
                <a:spcPts val="2000"/>
              </a:lnSpc>
              <a:buFont typeface="Arial"/>
              <a:buChar char="•"/>
            </a:pPr>
            <a:r>
              <a:rPr lang="en-US" sz="166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Higher negative log-probability indicates stronger recognition.</a:t>
            </a:r>
          </a:p>
          <a:p>
            <a:pPr algn="l">
              <a:lnSpc>
                <a:spcPts val="2000"/>
              </a:lnSpc>
            </a:pPr>
          </a:p>
          <a:p>
            <a:pPr algn="l">
              <a:lnSpc>
                <a:spcPts val="2000"/>
              </a:lnSpc>
            </a:pPr>
            <a:r>
              <a:rPr lang="en-US" sz="1667" u="sng" b="true">
                <a:solidFill>
                  <a:srgbClr val="FAB536"/>
                </a:solidFill>
                <a:latin typeface="Arial Bold"/>
                <a:ea typeface="Arial Bold"/>
                <a:cs typeface="Arial Bold"/>
                <a:sym typeface="Arial Bold"/>
              </a:rPr>
              <a:t>MIN-K++:</a:t>
            </a:r>
          </a:p>
          <a:p>
            <a:pPr algn="l" marL="359948" indent="-179974" lvl="1">
              <a:lnSpc>
                <a:spcPts val="2000"/>
              </a:lnSpc>
              <a:buFont typeface="Arial"/>
              <a:buChar char="•"/>
            </a:pPr>
            <a:r>
              <a:rPr lang="en-US" sz="166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Improves MIN-K% by normalizing token probabilities.</a:t>
            </a:r>
          </a:p>
          <a:p>
            <a:pPr algn="l" marL="359948" indent="-179974" lvl="1">
              <a:lnSpc>
                <a:spcPts val="2000"/>
              </a:lnSpc>
              <a:buFont typeface="Arial"/>
              <a:buChar char="•"/>
            </a:pPr>
            <a:r>
              <a:rPr lang="en-US" sz="166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Uses mean and standard deviation for better outlier detection.</a:t>
            </a:r>
          </a:p>
          <a:p>
            <a:pPr algn="l" marL="359948" indent="-179974" lvl="1">
              <a:lnSpc>
                <a:spcPts val="2000"/>
              </a:lnSpc>
              <a:buFont typeface="Arial"/>
              <a:buChar char="•"/>
            </a:pPr>
            <a:r>
              <a:rPr lang="en-US" sz="166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Enhances handling of rare or less frequent tokens.</a:t>
            </a:r>
          </a:p>
          <a:p>
            <a:pPr algn="l">
              <a:lnSpc>
                <a:spcPts val="2000"/>
              </a:lnSpc>
            </a:pPr>
          </a:p>
          <a:p>
            <a:pPr algn="l">
              <a:lnSpc>
                <a:spcPts val="2000"/>
              </a:lnSpc>
            </a:pPr>
            <a:r>
              <a:rPr lang="en-US" sz="1667" u="sng" b="true">
                <a:solidFill>
                  <a:srgbClr val="FAB536"/>
                </a:solidFill>
                <a:latin typeface="Arial Bold"/>
                <a:ea typeface="Arial Bold"/>
                <a:cs typeface="Arial Bold"/>
                <a:sym typeface="Arial Bold"/>
              </a:rPr>
              <a:t>TCS (Text Confidence Score):</a:t>
            </a:r>
          </a:p>
          <a:p>
            <a:pPr algn="l" marL="359948" indent="-179974" lvl="1">
              <a:lnSpc>
                <a:spcPts val="2000"/>
              </a:lnSpc>
              <a:buFont typeface="Arial"/>
              <a:buChar char="•"/>
            </a:pPr>
            <a:r>
              <a:rPr lang="en-US" sz="166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Combines token confidence and rarity for robustness.</a:t>
            </a:r>
          </a:p>
          <a:p>
            <a:pPr algn="l" marL="359948" indent="-179974" lvl="1">
              <a:lnSpc>
                <a:spcPts val="2000"/>
              </a:lnSpc>
              <a:buFont typeface="Arial"/>
              <a:buChar char="•"/>
            </a:pPr>
            <a:r>
              <a:rPr lang="en-US" sz="166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Evaluates token significance based on rarity and prediction certainty.</a:t>
            </a:r>
          </a:p>
          <a:p>
            <a:pPr algn="l" marL="359948" indent="-179974" lvl="1">
              <a:lnSpc>
                <a:spcPts val="2000"/>
              </a:lnSpc>
              <a:buFont typeface="Arial"/>
              <a:buChar char="•"/>
            </a:pPr>
            <a:r>
              <a:rPr lang="en-US" sz="166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More reliable for context-free, small-length PII like names and emails.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252100" y="5543114"/>
            <a:ext cx="2772765" cy="928876"/>
          </a:xfrm>
          <a:custGeom>
            <a:avLst/>
            <a:gdLst/>
            <a:ahLst/>
            <a:cxnLst/>
            <a:rect r="r" b="b" t="t" l="l"/>
            <a:pathLst>
              <a:path h="928876" w="2772765">
                <a:moveTo>
                  <a:pt x="0" y="0"/>
                </a:moveTo>
                <a:lnTo>
                  <a:pt x="2772766" y="0"/>
                </a:lnTo>
                <a:lnTo>
                  <a:pt x="2772766" y="928876"/>
                </a:lnTo>
                <a:lnTo>
                  <a:pt x="0" y="9288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27676" y="396644"/>
            <a:ext cx="7298248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0097B2"/>
                </a:solidFill>
                <a:latin typeface="Impact"/>
                <a:ea typeface="Impact"/>
                <a:cs typeface="Impact"/>
                <a:sym typeface="Impact"/>
              </a:rPr>
              <a:t>DESIGN AND ANALYSIS...!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002102" cy="7315200"/>
            <a:chOff x="0" y="0"/>
            <a:chExt cx="1111889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11889" cy="2709333"/>
            </a:xfrm>
            <a:custGeom>
              <a:avLst/>
              <a:gdLst/>
              <a:ahLst/>
              <a:cxnLst/>
              <a:rect r="r" b="b" t="t" l="l"/>
              <a:pathLst>
                <a:path h="2709333" w="1111889">
                  <a:moveTo>
                    <a:pt x="0" y="0"/>
                  </a:moveTo>
                  <a:lnTo>
                    <a:pt x="1111889" y="0"/>
                  </a:lnTo>
                  <a:lnTo>
                    <a:pt x="111188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1111889" cy="277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3834" y="2663204"/>
            <a:ext cx="2664000" cy="3111241"/>
          </a:xfrm>
          <a:custGeom>
            <a:avLst/>
            <a:gdLst/>
            <a:ahLst/>
            <a:cxnLst/>
            <a:rect r="r" b="b" t="t" l="l"/>
            <a:pathLst>
              <a:path h="3111241" w="2664000">
                <a:moveTo>
                  <a:pt x="0" y="0"/>
                </a:moveTo>
                <a:lnTo>
                  <a:pt x="2664000" y="0"/>
                </a:lnTo>
                <a:lnTo>
                  <a:pt x="2664000" y="3111241"/>
                </a:lnTo>
                <a:lnTo>
                  <a:pt x="0" y="31112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224028" y="234272"/>
            <a:ext cx="6529572" cy="1760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0"/>
              </a:lnSpc>
            </a:pPr>
            <a:r>
              <a:rPr lang="en-US" sz="3683">
                <a:solidFill>
                  <a:srgbClr val="0097B2"/>
                </a:solidFill>
                <a:latin typeface="Impact"/>
                <a:ea typeface="Impact"/>
                <a:cs typeface="Impact"/>
                <a:sym typeface="Impact"/>
              </a:rPr>
              <a:t>USABILITY, MANUFACTURABILITY, AND SUSTAINABILITY</a:t>
            </a:r>
          </a:p>
          <a:p>
            <a:pPr algn="ctr">
              <a:lnSpc>
                <a:spcPts val="4420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227913" y="731520"/>
            <a:ext cx="2513620" cy="842063"/>
          </a:xfrm>
          <a:custGeom>
            <a:avLst/>
            <a:gdLst/>
            <a:ahLst/>
            <a:cxnLst/>
            <a:rect r="r" b="b" t="t" l="l"/>
            <a:pathLst>
              <a:path h="842063" w="2513620">
                <a:moveTo>
                  <a:pt x="0" y="0"/>
                </a:moveTo>
                <a:lnTo>
                  <a:pt x="2513619" y="0"/>
                </a:lnTo>
                <a:lnTo>
                  <a:pt x="2513619" y="842063"/>
                </a:lnTo>
                <a:lnTo>
                  <a:pt x="0" y="8420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272762" y="2056967"/>
            <a:ext cx="6142660" cy="1403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99" u="sng" b="true">
                <a:solidFill>
                  <a:srgbClr val="EDA32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Usability:</a:t>
            </a:r>
          </a:p>
          <a:p>
            <a:pPr algn="l" marL="561339" indent="-187113" lvl="2">
              <a:lnSpc>
                <a:spcPts val="1819"/>
              </a:lnSpc>
              <a:buFont typeface="Arial"/>
              <a:buChar char="⚬"/>
            </a:pPr>
            <a:r>
              <a:rPr lang="en-US" sz="12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Measure system accuracy with benchmarks .</a:t>
            </a:r>
          </a:p>
          <a:p>
            <a:pPr algn="l" marL="561339" indent="-187113" lvl="2">
              <a:lnSpc>
                <a:spcPts val="1819"/>
              </a:lnSpc>
              <a:buFont typeface="Arial"/>
              <a:buChar char="⚬"/>
            </a:pPr>
            <a:r>
              <a:rPr lang="en-US" sz="12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Gather feedback through stakeholder surveys and usability tests.</a:t>
            </a:r>
          </a:p>
          <a:p>
            <a:pPr algn="l" marL="561339" indent="-187113" lvl="2">
              <a:lnSpc>
                <a:spcPts val="1819"/>
              </a:lnSpc>
              <a:buFont typeface="Arial"/>
              <a:buChar char="⚬"/>
            </a:pPr>
            <a:r>
              <a:rPr lang="en-US" sz="12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Compare performance against existing membership inference algorithms.</a:t>
            </a:r>
          </a:p>
          <a:p>
            <a:pPr algn="l">
              <a:lnSpc>
                <a:spcPts val="2071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3272762" y="3689958"/>
            <a:ext cx="6142660" cy="1246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u="sng" b="true">
                <a:solidFill>
                  <a:srgbClr val="FAB53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Manufacturability:</a:t>
            </a:r>
          </a:p>
          <a:p>
            <a:pPr algn="l" marL="518160" indent="-172720" lvl="2">
              <a:lnSpc>
                <a:spcPts val="1679"/>
              </a:lnSpc>
              <a:buFont typeface="Arial"/>
              <a:buChar char="⚬"/>
            </a:pPr>
            <a:r>
              <a:rPr lang="en-US" sz="1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Make code publicly accessible for modifications by researchers and developers.</a:t>
            </a:r>
          </a:p>
          <a:p>
            <a:pPr algn="l" marL="518160" indent="-172720" lvl="2">
              <a:lnSpc>
                <a:spcPts val="1679"/>
              </a:lnSpc>
              <a:buFont typeface="Arial"/>
              <a:buChar char="⚬"/>
            </a:pPr>
            <a:r>
              <a:rPr lang="en-US" sz="1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Explore scalability with larger models and datasets in the future.</a:t>
            </a:r>
          </a:p>
          <a:p>
            <a:pPr algn="l" marL="518160" indent="-172720" lvl="2">
              <a:lnSpc>
                <a:spcPts val="1679"/>
              </a:lnSpc>
              <a:buFont typeface="Arial"/>
              <a:buChar char="⚬"/>
            </a:pPr>
            <a:r>
              <a:rPr lang="en-US" sz="1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Present real-world use cases.</a:t>
            </a:r>
          </a:p>
          <a:p>
            <a:pPr algn="l">
              <a:lnSpc>
                <a:spcPts val="167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3272762" y="5280145"/>
            <a:ext cx="6142660" cy="1455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u="sng" b="true">
                <a:solidFill>
                  <a:srgbClr val="FAB53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Sustainability:</a:t>
            </a:r>
          </a:p>
          <a:p>
            <a:pPr algn="l" marL="518160" indent="-172720" lvl="2">
              <a:lnSpc>
                <a:spcPts val="1679"/>
              </a:lnSpc>
              <a:buFont typeface="Arial"/>
              <a:buChar char="⚬"/>
            </a:pPr>
            <a:r>
              <a:rPr lang="en-US" sz="1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Ensure ongoing support and updates to the project to adapt to evolving needs.</a:t>
            </a:r>
          </a:p>
          <a:p>
            <a:pPr algn="l" marL="518160" indent="-172720" lvl="2">
              <a:lnSpc>
                <a:spcPts val="1679"/>
              </a:lnSpc>
              <a:buFont typeface="Arial"/>
              <a:buChar char="⚬"/>
            </a:pPr>
            <a:r>
              <a:rPr lang="en-US" sz="1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Fos</a:t>
            </a:r>
            <a:r>
              <a:rPr lang="en-US" sz="1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ter a community of contributors to maintain and enhance the system.</a:t>
            </a:r>
          </a:p>
          <a:p>
            <a:pPr algn="l" marL="518160" indent="-172720" lvl="2">
              <a:lnSpc>
                <a:spcPts val="1679"/>
              </a:lnSpc>
              <a:buFont typeface="Arial"/>
              <a:buChar char="⚬"/>
            </a:pPr>
            <a:r>
              <a:rPr lang="en-US" sz="1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</a:t>
            </a:r>
            <a:r>
              <a:rPr lang="en-US" sz="12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evelop documentation and resources to facilitate long-term usability and understanding.</a:t>
            </a:r>
          </a:p>
          <a:p>
            <a:pPr algn="l">
              <a:lnSpc>
                <a:spcPts val="1679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89707"/>
            <a:ext cx="960564" cy="7309657"/>
            <a:chOff x="0" y="0"/>
            <a:chExt cx="355764" cy="27072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5764" cy="2707280"/>
            </a:xfrm>
            <a:custGeom>
              <a:avLst/>
              <a:gdLst/>
              <a:ahLst/>
              <a:cxnLst/>
              <a:rect r="r" b="b" t="t" l="l"/>
              <a:pathLst>
                <a:path h="2707280" w="355764">
                  <a:moveTo>
                    <a:pt x="0" y="0"/>
                  </a:moveTo>
                  <a:lnTo>
                    <a:pt x="355764" y="0"/>
                  </a:lnTo>
                  <a:lnTo>
                    <a:pt x="355764" y="2707280"/>
                  </a:lnTo>
                  <a:lnTo>
                    <a:pt x="0" y="27072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355764" cy="27739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793036" y="0"/>
            <a:ext cx="960564" cy="7315200"/>
            <a:chOff x="0" y="0"/>
            <a:chExt cx="355764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55764" cy="2709333"/>
            </a:xfrm>
            <a:custGeom>
              <a:avLst/>
              <a:gdLst/>
              <a:ahLst/>
              <a:cxnLst/>
              <a:rect r="r" b="b" t="t" l="l"/>
              <a:pathLst>
                <a:path h="2709333" w="355764">
                  <a:moveTo>
                    <a:pt x="0" y="0"/>
                  </a:moveTo>
                  <a:lnTo>
                    <a:pt x="355764" y="0"/>
                  </a:lnTo>
                  <a:lnTo>
                    <a:pt x="35576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355764" cy="277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561916" y="5043386"/>
            <a:ext cx="2282434" cy="2926080"/>
          </a:xfrm>
          <a:custGeom>
            <a:avLst/>
            <a:gdLst/>
            <a:ahLst/>
            <a:cxnLst/>
            <a:rect r="r" b="b" t="t" l="l"/>
            <a:pathLst>
              <a:path h="2926080" w="2282434">
                <a:moveTo>
                  <a:pt x="0" y="0"/>
                </a:moveTo>
                <a:lnTo>
                  <a:pt x="2282433" y="0"/>
                </a:lnTo>
                <a:lnTo>
                  <a:pt x="2282433" y="2926080"/>
                </a:lnTo>
                <a:lnTo>
                  <a:pt x="0" y="29260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178432" y="99124"/>
            <a:ext cx="7396737" cy="781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>
                <a:solidFill>
                  <a:srgbClr val="0097B2"/>
                </a:solidFill>
                <a:latin typeface="Impact"/>
                <a:ea typeface="Impact"/>
                <a:cs typeface="Impact"/>
                <a:sym typeface="Impact"/>
              </a:rPr>
              <a:t>IMPLEMENTATION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7880863" y="4932606"/>
            <a:ext cx="2282434" cy="2926080"/>
          </a:xfrm>
          <a:custGeom>
            <a:avLst/>
            <a:gdLst/>
            <a:ahLst/>
            <a:cxnLst/>
            <a:rect r="r" b="b" t="t" l="l"/>
            <a:pathLst>
              <a:path h="2926080" w="2282434">
                <a:moveTo>
                  <a:pt x="0" y="0"/>
                </a:moveTo>
                <a:lnTo>
                  <a:pt x="2282434" y="0"/>
                </a:lnTo>
                <a:lnTo>
                  <a:pt x="2282434" y="2926080"/>
                </a:lnTo>
                <a:lnTo>
                  <a:pt x="0" y="29260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720517" y="1227402"/>
            <a:ext cx="6142660" cy="2291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99" u="sng" b="true">
                <a:solidFill>
                  <a:srgbClr val="EDA32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DATA:</a:t>
            </a:r>
          </a:p>
          <a:p>
            <a:pPr algn="l" marL="280669" indent="-140335" lvl="1">
              <a:lnSpc>
                <a:spcPts val="1819"/>
              </a:lnSpc>
              <a:buFont typeface="Arial"/>
              <a:buChar char="•"/>
            </a:pPr>
            <a:r>
              <a:rPr lang="en-US" b="true" sz="12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We used the Enron dataset as "seen data" because it contains real-world emails with embedded PII, ideal for testing privacy risks.</a:t>
            </a:r>
          </a:p>
          <a:p>
            <a:pPr algn="l" marL="280669" indent="-140335" lvl="1">
              <a:lnSpc>
                <a:spcPts val="1819"/>
              </a:lnSpc>
              <a:buFont typeface="Arial"/>
              <a:buChar char="•"/>
            </a:pPr>
            <a:r>
              <a:rPr lang="en-US" b="true" sz="12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 evaluate generalization and retention, we generated synthetic email addresses as "unseen data."</a:t>
            </a:r>
          </a:p>
          <a:p>
            <a:pPr algn="l" marL="280669" indent="-140335" lvl="1">
              <a:lnSpc>
                <a:spcPts val="1819"/>
              </a:lnSpc>
              <a:buFont typeface="Arial"/>
              <a:buChar char="•"/>
            </a:pPr>
            <a:r>
              <a:rPr lang="en-US" b="true" sz="12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Full names were extracted from OpenWebText for experiments</a:t>
            </a:r>
          </a:p>
          <a:p>
            <a:pPr algn="l">
              <a:lnSpc>
                <a:spcPts val="1819"/>
              </a:lnSpc>
            </a:pPr>
          </a:p>
          <a:p>
            <a:pPr algn="l">
              <a:lnSpc>
                <a:spcPts val="1819"/>
              </a:lnSpc>
            </a:pPr>
          </a:p>
          <a:p>
            <a:pPr algn="l">
              <a:lnSpc>
                <a:spcPts val="1819"/>
              </a:lnSpc>
            </a:pPr>
          </a:p>
          <a:p>
            <a:pPr algn="l">
              <a:lnSpc>
                <a:spcPts val="1819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738203" y="3026992"/>
            <a:ext cx="6142660" cy="1403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99" u="sng" b="true">
                <a:solidFill>
                  <a:srgbClr val="EDA32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Models Evaluated:</a:t>
            </a:r>
          </a:p>
          <a:p>
            <a:pPr algn="l">
              <a:lnSpc>
                <a:spcPts val="1819"/>
              </a:lnSpc>
            </a:pPr>
            <a:r>
              <a:rPr lang="en-US" sz="12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Multiple models were tested to establish a comparative analysis:</a:t>
            </a:r>
          </a:p>
          <a:p>
            <a:pPr algn="l" marL="280669" indent="-140335" lvl="1">
              <a:lnSpc>
                <a:spcPts val="1819"/>
              </a:lnSpc>
              <a:buFont typeface="Arial"/>
              <a:buChar char="•"/>
            </a:pPr>
            <a:r>
              <a:rPr lang="en-US" b="true" sz="12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GPT-Neo variants.</a:t>
            </a:r>
          </a:p>
          <a:p>
            <a:pPr algn="l" marL="280669" indent="-140335" lvl="1">
              <a:lnSpc>
                <a:spcPts val="1819"/>
              </a:lnSpc>
              <a:buFont typeface="Arial"/>
              <a:buChar char="•"/>
            </a:pPr>
            <a:r>
              <a:rPr lang="en-US" b="true" sz="12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GPT-2 variants.</a:t>
            </a:r>
          </a:p>
          <a:p>
            <a:pPr algn="l" marL="280669" indent="-140335" lvl="1">
              <a:lnSpc>
                <a:spcPts val="1819"/>
              </a:lnSpc>
              <a:buFont typeface="Arial"/>
              <a:buChar char="•"/>
            </a:pPr>
            <a:r>
              <a:rPr lang="en-US" b="true" sz="12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Facebook OPT, and many others.</a:t>
            </a:r>
          </a:p>
          <a:p>
            <a:pPr algn="l">
              <a:lnSpc>
                <a:spcPts val="2071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738203" y="4554731"/>
            <a:ext cx="6142660" cy="1403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99" u="sng" b="true">
                <a:solidFill>
                  <a:srgbClr val="EDA32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Methods Applied:</a:t>
            </a:r>
          </a:p>
          <a:p>
            <a:pPr algn="l" marL="280669" indent="-140335" lvl="1">
              <a:lnSpc>
                <a:spcPts val="1819"/>
              </a:lnSpc>
              <a:buFont typeface="Arial"/>
              <a:buChar char="•"/>
            </a:pPr>
            <a:r>
              <a:rPr lang="en-US" b="true" sz="12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MINK%</a:t>
            </a:r>
          </a:p>
          <a:p>
            <a:pPr algn="l" marL="280669" indent="-140335" lvl="1">
              <a:lnSpc>
                <a:spcPts val="1819"/>
              </a:lnSpc>
              <a:buFont typeface="Arial"/>
              <a:buChar char="•"/>
            </a:pPr>
            <a:r>
              <a:rPr lang="en-US" b="true" sz="12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MINK++</a:t>
            </a:r>
            <a:r>
              <a:rPr lang="en-US" b="true" sz="12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</a:t>
            </a:r>
          </a:p>
          <a:p>
            <a:pPr algn="l" marL="280669" indent="-140335" lvl="1">
              <a:lnSpc>
                <a:spcPts val="1819"/>
              </a:lnSpc>
              <a:buFont typeface="Arial"/>
              <a:buChar char="•"/>
            </a:pPr>
            <a:r>
              <a:rPr lang="en-US" b="true" sz="12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TCS (Text Confidence Score)</a:t>
            </a:r>
          </a:p>
          <a:p>
            <a:pPr algn="l">
              <a:lnSpc>
                <a:spcPts val="1819"/>
              </a:lnSpc>
            </a:pPr>
          </a:p>
          <a:p>
            <a:pPr algn="l">
              <a:lnSpc>
                <a:spcPts val="2071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0249" y="6946730"/>
            <a:ext cx="10015843" cy="368470"/>
            <a:chOff x="0" y="0"/>
            <a:chExt cx="3709571" cy="1364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09572" cy="136470"/>
            </a:xfrm>
            <a:custGeom>
              <a:avLst/>
              <a:gdLst/>
              <a:ahLst/>
              <a:cxnLst/>
              <a:rect r="r" b="b" t="t" l="l"/>
              <a:pathLst>
                <a:path h="136470" w="3709572">
                  <a:moveTo>
                    <a:pt x="0" y="0"/>
                  </a:moveTo>
                  <a:lnTo>
                    <a:pt x="3709572" y="0"/>
                  </a:lnTo>
                  <a:lnTo>
                    <a:pt x="3709572" y="136470"/>
                  </a:lnTo>
                  <a:lnTo>
                    <a:pt x="0" y="136470"/>
                  </a:lnTo>
                  <a:close/>
                </a:path>
              </a:pathLst>
            </a:custGeom>
            <a:solidFill>
              <a:srgbClr val="92929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3709571" cy="2031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69883" y="1514623"/>
            <a:ext cx="6213366" cy="4663029"/>
          </a:xfrm>
          <a:custGeom>
            <a:avLst/>
            <a:gdLst/>
            <a:ahLst/>
            <a:cxnLst/>
            <a:rect r="r" b="b" t="t" l="l"/>
            <a:pathLst>
              <a:path h="4663029" w="6213366">
                <a:moveTo>
                  <a:pt x="0" y="0"/>
                </a:moveTo>
                <a:lnTo>
                  <a:pt x="6213366" y="0"/>
                </a:lnTo>
                <a:lnTo>
                  <a:pt x="6213366" y="4663029"/>
                </a:lnTo>
                <a:lnTo>
                  <a:pt x="0" y="46630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dash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569883" y="1514623"/>
            <a:ext cx="6213366" cy="4663029"/>
          </a:xfrm>
          <a:custGeom>
            <a:avLst/>
            <a:gdLst/>
            <a:ahLst/>
            <a:cxnLst/>
            <a:rect r="r" b="b" t="t" l="l"/>
            <a:pathLst>
              <a:path h="4663029" w="6213366">
                <a:moveTo>
                  <a:pt x="0" y="0"/>
                </a:moveTo>
                <a:lnTo>
                  <a:pt x="6213366" y="0"/>
                </a:lnTo>
                <a:lnTo>
                  <a:pt x="6213366" y="4663029"/>
                </a:lnTo>
                <a:lnTo>
                  <a:pt x="0" y="46630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dash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1569883" y="301826"/>
            <a:ext cx="6597140" cy="765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5000">
                <a:solidFill>
                  <a:srgbClr val="0097B2"/>
                </a:solidFill>
                <a:latin typeface="Impact"/>
                <a:ea typeface="Impact"/>
                <a:cs typeface="Impact"/>
                <a:sym typeface="Impact"/>
              </a:rPr>
              <a:t>FINE-TUNING AND UNLEARNING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55570" y="1366002"/>
            <a:ext cx="8642459" cy="5142263"/>
          </a:xfrm>
          <a:custGeom>
            <a:avLst/>
            <a:gdLst/>
            <a:ahLst/>
            <a:cxnLst/>
            <a:rect r="r" b="b" t="t" l="l"/>
            <a:pathLst>
              <a:path h="5142263" w="8642459">
                <a:moveTo>
                  <a:pt x="0" y="0"/>
                </a:moveTo>
                <a:lnTo>
                  <a:pt x="8642460" y="0"/>
                </a:lnTo>
                <a:lnTo>
                  <a:pt x="8642460" y="5142263"/>
                </a:lnTo>
                <a:lnTo>
                  <a:pt x="0" y="51422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rnd">
            <a:solidFill>
              <a:srgbClr val="000000"/>
            </a:solidFill>
            <a:prstDash val="dash"/>
            <a:round/>
          </a:ln>
        </p:spPr>
      </p:sp>
      <p:sp>
        <p:nvSpPr>
          <p:cNvPr name="TextBox 3" id="3"/>
          <p:cNvSpPr txBox="true"/>
          <p:nvPr/>
        </p:nvSpPr>
        <p:spPr>
          <a:xfrm rot="0">
            <a:off x="1536599" y="255284"/>
            <a:ext cx="6529572" cy="847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0"/>
              </a:lnSpc>
            </a:pPr>
            <a:r>
              <a:rPr lang="en-US" sz="4883">
                <a:solidFill>
                  <a:srgbClr val="0097B2"/>
                </a:solidFill>
                <a:latin typeface="Impact"/>
                <a:ea typeface="Impact"/>
                <a:cs typeface="Impact"/>
                <a:sym typeface="Impact"/>
              </a:rPr>
              <a:t> DEVELOPMENT PROCESS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951460" y="5140039"/>
            <a:ext cx="2802140" cy="2175161"/>
          </a:xfrm>
          <a:custGeom>
            <a:avLst/>
            <a:gdLst/>
            <a:ahLst/>
            <a:cxnLst/>
            <a:rect r="r" b="b" t="t" l="l"/>
            <a:pathLst>
              <a:path h="2175161" w="2802140">
                <a:moveTo>
                  <a:pt x="0" y="0"/>
                </a:moveTo>
                <a:lnTo>
                  <a:pt x="2802140" y="0"/>
                </a:lnTo>
                <a:lnTo>
                  <a:pt x="2802140" y="2175161"/>
                </a:lnTo>
                <a:lnTo>
                  <a:pt x="0" y="21751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7131" y="818371"/>
            <a:ext cx="8215399" cy="200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>
                <a:solidFill>
                  <a:srgbClr val="0097B2"/>
                </a:solidFill>
                <a:latin typeface="Impact"/>
                <a:ea typeface="Impact"/>
                <a:cs typeface="Impact"/>
                <a:sym typeface="Impact"/>
              </a:rPr>
              <a:t>ENVIRONMENTAL CONSIDERATIONS &amp;  SUSTAINABILITY</a:t>
            </a:r>
          </a:p>
          <a:p>
            <a:pPr algn="l">
              <a:lnSpc>
                <a:spcPts val="504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173054" y="2574521"/>
            <a:ext cx="7407492" cy="2658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32"/>
              </a:lnSpc>
            </a:pPr>
            <a:r>
              <a:rPr lang="en-US" b="true" sz="1523" u="sng">
                <a:solidFill>
                  <a:srgbClr val="FAB536"/>
                </a:solidFill>
                <a:latin typeface="Arial Bold"/>
                <a:ea typeface="Arial Bold"/>
                <a:cs typeface="Arial Bold"/>
                <a:sym typeface="Arial Bold"/>
              </a:rPr>
              <a:t>Energy Management:</a:t>
            </a:r>
          </a:p>
          <a:p>
            <a:pPr algn="just" marL="657866" indent="-219289" lvl="2">
              <a:lnSpc>
                <a:spcPts val="2132"/>
              </a:lnSpc>
              <a:buFont typeface="Arial"/>
              <a:buChar char="⚬"/>
            </a:pPr>
            <a:r>
              <a:rPr lang="en-US" sz="1523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Implement energy-efficient algorithms to minimize computational demands.</a:t>
            </a:r>
          </a:p>
          <a:p>
            <a:pPr algn="just" marL="657866" indent="-219289" lvl="2">
              <a:lnSpc>
                <a:spcPts val="2132"/>
              </a:lnSpc>
              <a:buFont typeface="Arial"/>
              <a:buChar char="⚬"/>
            </a:pPr>
            <a:r>
              <a:rPr lang="en-US" sz="1523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 smaller, representative datasets to reduce overall energy consumption.</a:t>
            </a:r>
          </a:p>
          <a:p>
            <a:pPr algn="just">
              <a:lnSpc>
                <a:spcPts val="2132"/>
              </a:lnSpc>
            </a:pPr>
            <a:r>
              <a:rPr lang="en-US" b="true" sz="1523" u="sng">
                <a:solidFill>
                  <a:srgbClr val="FAB536"/>
                </a:solidFill>
                <a:latin typeface="Arial Bold"/>
                <a:ea typeface="Arial Bold"/>
                <a:cs typeface="Arial Bold"/>
                <a:sym typeface="Arial Bold"/>
              </a:rPr>
              <a:t>Resource Efficiency:</a:t>
            </a:r>
          </a:p>
          <a:p>
            <a:pPr algn="just" marL="657866" indent="-219289" lvl="2">
              <a:lnSpc>
                <a:spcPts val="2132"/>
              </a:lnSpc>
              <a:buFont typeface="Arial"/>
              <a:buChar char="⚬"/>
            </a:pPr>
            <a:r>
              <a:rPr lang="en-US" sz="1523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Utilize energy-efficient hardware and optimize code for sustainability.</a:t>
            </a:r>
          </a:p>
          <a:p>
            <a:pPr algn="just" marL="657866" indent="-219289" lvl="2">
              <a:lnSpc>
                <a:spcPts val="2132"/>
              </a:lnSpc>
              <a:buFont typeface="Arial"/>
              <a:buChar char="⚬"/>
            </a:pPr>
            <a:r>
              <a:rPr lang="en-US" sz="1523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Leverage renewable energy-powered cloud computing resources.</a:t>
            </a:r>
          </a:p>
          <a:p>
            <a:pPr algn="just">
              <a:lnSpc>
                <a:spcPts val="2132"/>
              </a:lnSpc>
            </a:pPr>
            <a:r>
              <a:rPr lang="en-US" b="true" sz="1523" u="sng">
                <a:solidFill>
                  <a:srgbClr val="FAB536"/>
                </a:solidFill>
                <a:latin typeface="Arial Bold"/>
                <a:ea typeface="Arial Bold"/>
                <a:cs typeface="Arial Bold"/>
                <a:sym typeface="Arial Bold"/>
              </a:rPr>
              <a:t>Ethical Practices:</a:t>
            </a:r>
          </a:p>
          <a:p>
            <a:pPr algn="just" marL="657866" indent="-219289" lvl="2">
              <a:lnSpc>
                <a:spcPts val="2132"/>
              </a:lnSpc>
              <a:buFont typeface="Arial"/>
              <a:buChar char="⚬"/>
            </a:pPr>
            <a:r>
              <a:rPr lang="en-US" sz="1523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Address data privacy concerns to promote responsible AI applications.</a:t>
            </a:r>
          </a:p>
          <a:p>
            <a:pPr algn="just" marL="657866" indent="-219289" lvl="2">
              <a:lnSpc>
                <a:spcPts val="2132"/>
              </a:lnSpc>
              <a:buFont typeface="Arial"/>
              <a:buChar char="⚬"/>
            </a:pPr>
            <a:r>
              <a:rPr lang="en-US" sz="1523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Foster transparency and trust in AI systems through ethical data handling.</a:t>
            </a:r>
          </a:p>
          <a:p>
            <a:pPr algn="just">
              <a:lnSpc>
                <a:spcPts val="1928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true" flipV="false" rot="0">
            <a:off x="7472458" y="637797"/>
            <a:ext cx="2772765" cy="928876"/>
          </a:xfrm>
          <a:custGeom>
            <a:avLst/>
            <a:gdLst/>
            <a:ahLst/>
            <a:cxnLst/>
            <a:rect r="r" b="b" t="t" l="l"/>
            <a:pathLst>
              <a:path h="928876" w="2772765">
                <a:moveTo>
                  <a:pt x="2772765" y="0"/>
                </a:moveTo>
                <a:lnTo>
                  <a:pt x="0" y="0"/>
                </a:lnTo>
                <a:lnTo>
                  <a:pt x="0" y="928877"/>
                </a:lnTo>
                <a:lnTo>
                  <a:pt x="2772765" y="928877"/>
                </a:lnTo>
                <a:lnTo>
                  <a:pt x="277276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525411" y="-261205"/>
            <a:ext cx="2374010" cy="4229862"/>
          </a:xfrm>
          <a:custGeom>
            <a:avLst/>
            <a:gdLst/>
            <a:ahLst/>
            <a:cxnLst/>
            <a:rect r="r" b="b" t="t" l="l"/>
            <a:pathLst>
              <a:path h="4229862" w="2374010">
                <a:moveTo>
                  <a:pt x="0" y="0"/>
                </a:moveTo>
                <a:lnTo>
                  <a:pt x="2374010" y="0"/>
                </a:lnTo>
                <a:lnTo>
                  <a:pt x="2374010" y="4229863"/>
                </a:lnTo>
                <a:lnTo>
                  <a:pt x="0" y="42298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297222" y="3621398"/>
            <a:ext cx="2456378" cy="3693802"/>
          </a:xfrm>
          <a:custGeom>
            <a:avLst/>
            <a:gdLst/>
            <a:ahLst/>
            <a:cxnLst/>
            <a:rect r="r" b="b" t="t" l="l"/>
            <a:pathLst>
              <a:path h="3693802" w="2456378">
                <a:moveTo>
                  <a:pt x="0" y="0"/>
                </a:moveTo>
                <a:lnTo>
                  <a:pt x="2456378" y="0"/>
                </a:lnTo>
                <a:lnTo>
                  <a:pt x="2456378" y="3693802"/>
                </a:lnTo>
                <a:lnTo>
                  <a:pt x="0" y="36938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636270"/>
            <a:ext cx="6496639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60"/>
              </a:lnSpc>
            </a:pPr>
            <a:r>
              <a:rPr lang="en-US" sz="4800">
                <a:solidFill>
                  <a:srgbClr val="0097B2"/>
                </a:solidFill>
                <a:latin typeface="Impact"/>
                <a:ea typeface="Impact"/>
                <a:cs typeface="Impact"/>
                <a:sym typeface="Impact"/>
              </a:rPr>
              <a:t>Tools and Technologies...! 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73692" y="1658435"/>
            <a:ext cx="7980149" cy="4134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6"/>
              </a:lnSpc>
            </a:pPr>
            <a:r>
              <a:rPr lang="en-US" sz="1490" u="sng" b="true">
                <a:solidFill>
                  <a:srgbClr val="FAB536"/>
                </a:solidFill>
                <a:latin typeface="Arial Bold"/>
                <a:ea typeface="Arial Bold"/>
                <a:cs typeface="Arial Bold"/>
                <a:sym typeface="Arial Bold"/>
              </a:rPr>
              <a:t>Python:</a:t>
            </a:r>
          </a:p>
          <a:p>
            <a:pPr algn="l" marL="321774" indent="-160887" lvl="1">
              <a:lnSpc>
                <a:spcPts val="2086"/>
              </a:lnSpc>
              <a:buFont typeface="Arial"/>
              <a:buChar char="•"/>
            </a:pPr>
            <a:r>
              <a:rPr lang="en-US" sz="149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Primary programming language used for model implementation and data processing.</a:t>
            </a:r>
          </a:p>
          <a:p>
            <a:pPr algn="l">
              <a:lnSpc>
                <a:spcPts val="2086"/>
              </a:lnSpc>
            </a:pPr>
            <a:r>
              <a:rPr lang="en-US" sz="1490" u="sng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Transformers Library:</a:t>
            </a:r>
          </a:p>
          <a:p>
            <a:pPr algn="l" marL="321774" indent="-160887" lvl="1">
              <a:lnSpc>
                <a:spcPts val="2086"/>
              </a:lnSpc>
              <a:buFont typeface="Arial"/>
              <a:buChar char="•"/>
            </a:pPr>
            <a:r>
              <a:rPr lang="en-US" sz="149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Hugging Face Transformers for working with pre-trained models like GPT-2 and GPT-Neo.</a:t>
            </a:r>
          </a:p>
          <a:p>
            <a:pPr algn="l">
              <a:lnSpc>
                <a:spcPts val="2086"/>
              </a:lnSpc>
            </a:pPr>
            <a:r>
              <a:rPr lang="en-US" sz="1490" u="sng" b="true">
                <a:solidFill>
                  <a:srgbClr val="FAB536"/>
                </a:solidFill>
                <a:latin typeface="Arial Bold"/>
                <a:ea typeface="Arial Bold"/>
                <a:cs typeface="Arial Bold"/>
                <a:sym typeface="Arial Bold"/>
              </a:rPr>
              <a:t>PyTorch:</a:t>
            </a:r>
          </a:p>
          <a:p>
            <a:pPr algn="l" marL="321774" indent="-160887" lvl="1">
              <a:lnSpc>
                <a:spcPts val="2086"/>
              </a:lnSpc>
              <a:buFont typeface="Arial"/>
              <a:buChar char="•"/>
            </a:pPr>
            <a:r>
              <a:rPr lang="en-US" sz="149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DEEP LEARNING FRAMEWORK FOR TRAINING AND FINE-TUNING MODELS.</a:t>
            </a:r>
          </a:p>
          <a:p>
            <a:pPr algn="l">
              <a:lnSpc>
                <a:spcPts val="2086"/>
              </a:lnSpc>
            </a:pPr>
            <a:r>
              <a:rPr lang="en-US" sz="1490" u="sng" b="true">
                <a:solidFill>
                  <a:srgbClr val="FAB536"/>
                </a:solidFill>
                <a:latin typeface="Arial Bold"/>
                <a:ea typeface="Arial Bold"/>
                <a:cs typeface="Arial Bold"/>
                <a:sym typeface="Arial Bold"/>
              </a:rPr>
              <a:t>Datasets Library:</a:t>
            </a:r>
          </a:p>
          <a:p>
            <a:pPr algn="l" marL="321774" indent="-160887" lvl="1">
              <a:lnSpc>
                <a:spcPts val="2086"/>
              </a:lnSpc>
              <a:buFont typeface="Arial"/>
              <a:buChar char="•"/>
            </a:pPr>
            <a:r>
              <a:rPr lang="en-US" sz="149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Hugging Face Datasets for easy access to various datasets like Enron and synthetic data.</a:t>
            </a:r>
          </a:p>
          <a:p>
            <a:pPr algn="l">
              <a:lnSpc>
                <a:spcPts val="2086"/>
              </a:lnSpc>
            </a:pPr>
            <a:r>
              <a:rPr lang="en-US" sz="1490" u="sng" b="true">
                <a:solidFill>
                  <a:srgbClr val="FAB536"/>
                </a:solidFill>
                <a:latin typeface="Arial Bold"/>
                <a:ea typeface="Arial Bold"/>
                <a:cs typeface="Arial Bold"/>
                <a:sym typeface="Arial Bold"/>
              </a:rPr>
              <a:t>Faker Library:</a:t>
            </a:r>
          </a:p>
          <a:p>
            <a:pPr algn="l" marL="321774" indent="-160887" lvl="1">
              <a:lnSpc>
                <a:spcPts val="2086"/>
              </a:lnSpc>
              <a:buFont typeface="Arial"/>
              <a:buChar char="•"/>
            </a:pPr>
            <a:r>
              <a:rPr lang="en-US" sz="149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Used to generate synthetic PII data (e.g., names, emails).</a:t>
            </a:r>
          </a:p>
          <a:p>
            <a:pPr algn="l">
              <a:lnSpc>
                <a:spcPts val="2086"/>
              </a:lnSpc>
            </a:pPr>
            <a:r>
              <a:rPr lang="en-US" sz="1490" u="sng" b="true">
                <a:solidFill>
                  <a:srgbClr val="FAB536"/>
                </a:solidFill>
                <a:latin typeface="Arial Bold"/>
                <a:ea typeface="Arial Bold"/>
                <a:cs typeface="Arial Bold"/>
                <a:sym typeface="Arial Bold"/>
              </a:rPr>
              <a:t>TQDM:</a:t>
            </a:r>
          </a:p>
          <a:p>
            <a:pPr algn="l" marL="321774" indent="-160887" lvl="1">
              <a:lnSpc>
                <a:spcPts val="2086"/>
              </a:lnSpc>
              <a:buFont typeface="Arial"/>
              <a:buChar char="•"/>
            </a:pPr>
            <a:r>
              <a:rPr lang="en-US" sz="149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Used for progress bars to track the progress of long-running tasks.</a:t>
            </a:r>
          </a:p>
          <a:p>
            <a:pPr algn="l">
              <a:lnSpc>
                <a:spcPts val="2086"/>
              </a:lnSpc>
            </a:pPr>
            <a:r>
              <a:rPr lang="en-US" sz="1490" u="sng" b="true">
                <a:solidFill>
                  <a:srgbClr val="FAB536"/>
                </a:solidFill>
                <a:latin typeface="Arial Bold"/>
                <a:ea typeface="Arial Bold"/>
                <a:cs typeface="Arial Bold"/>
                <a:sym typeface="Arial Bold"/>
              </a:rPr>
              <a:t>Matplotlib:</a:t>
            </a:r>
          </a:p>
          <a:p>
            <a:pPr algn="l" marL="321774" indent="-160887" lvl="1">
              <a:lnSpc>
                <a:spcPts val="2086"/>
              </a:lnSpc>
              <a:buFont typeface="Arial"/>
              <a:buChar char="•"/>
            </a:pPr>
            <a:r>
              <a:rPr lang="en-US" sz="149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Used for visualizing results, including histograms and probability distributions.</a:t>
            </a:r>
          </a:p>
          <a:p>
            <a:pPr algn="l">
              <a:lnSpc>
                <a:spcPts val="2086"/>
              </a:lnSpc>
            </a:pPr>
            <a:r>
              <a:rPr lang="en-US" sz="1490" u="sng" b="true">
                <a:solidFill>
                  <a:srgbClr val="FAB536"/>
                </a:solidFill>
                <a:latin typeface="Arial Bold"/>
                <a:ea typeface="Arial Bold"/>
                <a:cs typeface="Arial Bold"/>
                <a:sym typeface="Arial Bold"/>
              </a:rPr>
              <a:t>Google Colab / Kaggle:</a:t>
            </a:r>
          </a:p>
          <a:p>
            <a:pPr algn="l" marL="321774" indent="-160887" lvl="1">
              <a:lnSpc>
                <a:spcPts val="2086"/>
              </a:lnSpc>
              <a:buFont typeface="Arial"/>
              <a:buChar char="•"/>
            </a:pPr>
            <a:r>
              <a:rPr lang="en-US" sz="149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Cloud platforms used for running the experiments, providing GPU support.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451618" y="1287121"/>
            <a:ext cx="1459963" cy="269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97B2"/>
                </a:solidFill>
                <a:latin typeface="Arial"/>
                <a:ea typeface="Arial"/>
                <a:cs typeface="Arial"/>
                <a:sym typeface="Arial"/>
              </a:rPr>
              <a:t>MINK GPTNEO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3399827" y="1368539"/>
            <a:ext cx="3013774" cy="2168183"/>
          </a:xfrm>
          <a:custGeom>
            <a:avLst/>
            <a:gdLst/>
            <a:ahLst/>
            <a:cxnLst/>
            <a:rect r="r" b="b" t="t" l="l"/>
            <a:pathLst>
              <a:path h="2168183" w="3013774">
                <a:moveTo>
                  <a:pt x="0" y="0"/>
                </a:moveTo>
                <a:lnTo>
                  <a:pt x="3013774" y="0"/>
                </a:lnTo>
                <a:lnTo>
                  <a:pt x="3013774" y="2168183"/>
                </a:lnTo>
                <a:lnTo>
                  <a:pt x="0" y="21681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3122" y="1368539"/>
            <a:ext cx="3048544" cy="2180710"/>
          </a:xfrm>
          <a:custGeom>
            <a:avLst/>
            <a:gdLst/>
            <a:ahLst/>
            <a:cxnLst/>
            <a:rect r="r" b="b" t="t" l="l"/>
            <a:pathLst>
              <a:path h="2180710" w="3048544">
                <a:moveTo>
                  <a:pt x="0" y="0"/>
                </a:moveTo>
                <a:lnTo>
                  <a:pt x="3048544" y="0"/>
                </a:lnTo>
                <a:lnTo>
                  <a:pt x="3048544" y="2180711"/>
                </a:lnTo>
                <a:lnTo>
                  <a:pt x="0" y="21807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651726" y="1368539"/>
            <a:ext cx="2914912" cy="2188893"/>
          </a:xfrm>
          <a:custGeom>
            <a:avLst/>
            <a:gdLst/>
            <a:ahLst/>
            <a:cxnLst/>
            <a:rect r="r" b="b" t="t" l="l"/>
            <a:pathLst>
              <a:path h="2188893" w="2914912">
                <a:moveTo>
                  <a:pt x="0" y="0"/>
                </a:moveTo>
                <a:lnTo>
                  <a:pt x="2914912" y="0"/>
                </a:lnTo>
                <a:lnTo>
                  <a:pt x="2914912" y="2188893"/>
                </a:lnTo>
                <a:lnTo>
                  <a:pt x="0" y="21888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407087" y="3671732"/>
            <a:ext cx="4788595" cy="3417860"/>
          </a:xfrm>
          <a:custGeom>
            <a:avLst/>
            <a:gdLst/>
            <a:ahLst/>
            <a:cxnLst/>
            <a:rect r="r" b="b" t="t" l="l"/>
            <a:pathLst>
              <a:path h="3417860" w="4788595">
                <a:moveTo>
                  <a:pt x="0" y="0"/>
                </a:moveTo>
                <a:lnTo>
                  <a:pt x="4788596" y="0"/>
                </a:lnTo>
                <a:lnTo>
                  <a:pt x="4788596" y="3417860"/>
                </a:lnTo>
                <a:lnTo>
                  <a:pt x="0" y="34178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728647" y="57208"/>
            <a:ext cx="3975303" cy="876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20"/>
              </a:lnSpc>
            </a:pPr>
            <a:r>
              <a:rPr lang="en-US" sz="5100">
                <a:solidFill>
                  <a:srgbClr val="0097B2"/>
                </a:solidFill>
                <a:latin typeface="Impact"/>
                <a:ea typeface="Impact"/>
                <a:cs typeface="Impact"/>
                <a:sym typeface="Impact"/>
              </a:rPr>
              <a:t>RESULTS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31520" y="982321"/>
            <a:ext cx="1459963" cy="269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97B2"/>
                </a:solidFill>
                <a:latin typeface="Arial"/>
                <a:ea typeface="Arial"/>
                <a:cs typeface="Arial"/>
                <a:sym typeface="Arial"/>
              </a:rPr>
              <a:t>MINK GPTNEO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071403" y="982321"/>
            <a:ext cx="1459963" cy="269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97B2"/>
                </a:solidFill>
                <a:latin typeface="Arial"/>
                <a:ea typeface="Arial"/>
                <a:cs typeface="Arial"/>
                <a:sym typeface="Arial"/>
              </a:rPr>
              <a:t>MINK++ GPTNEO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407792" y="982321"/>
            <a:ext cx="1459963" cy="269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97B2"/>
                </a:solidFill>
                <a:latin typeface="Arial"/>
                <a:ea typeface="Arial"/>
                <a:cs typeface="Arial"/>
                <a:sym typeface="Arial"/>
              </a:rPr>
              <a:t>TCS GPTNEO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55792" y="2287740"/>
            <a:ext cx="4521008" cy="3393680"/>
          </a:xfrm>
          <a:custGeom>
            <a:avLst/>
            <a:gdLst/>
            <a:ahLst/>
            <a:cxnLst/>
            <a:rect r="r" b="b" t="t" l="l"/>
            <a:pathLst>
              <a:path h="3393680" w="4521008">
                <a:moveTo>
                  <a:pt x="0" y="0"/>
                </a:moveTo>
                <a:lnTo>
                  <a:pt x="4521008" y="0"/>
                </a:lnTo>
                <a:lnTo>
                  <a:pt x="4521008" y="3393680"/>
                </a:lnTo>
                <a:lnTo>
                  <a:pt x="0" y="33936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43" t="0" r="-943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089304" y="2365769"/>
            <a:ext cx="4542442" cy="3315651"/>
          </a:xfrm>
          <a:custGeom>
            <a:avLst/>
            <a:gdLst/>
            <a:ahLst/>
            <a:cxnLst/>
            <a:rect r="r" b="b" t="t" l="l"/>
            <a:pathLst>
              <a:path h="3315651" w="4542442">
                <a:moveTo>
                  <a:pt x="0" y="0"/>
                </a:moveTo>
                <a:lnTo>
                  <a:pt x="4542442" y="0"/>
                </a:lnTo>
                <a:lnTo>
                  <a:pt x="4542442" y="3315651"/>
                </a:lnTo>
                <a:lnTo>
                  <a:pt x="0" y="33156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6931"/>
            <a:ext cx="9753600" cy="876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20"/>
              </a:lnSpc>
            </a:pPr>
            <a:r>
              <a:rPr lang="en-US" sz="5100">
                <a:solidFill>
                  <a:srgbClr val="0097B2"/>
                </a:solidFill>
                <a:latin typeface="Impact"/>
                <a:ea typeface="Impact"/>
                <a:cs typeface="Impact"/>
                <a:sym typeface="Impact"/>
              </a:rPr>
              <a:t>FINE-TUNING AND UNLEARNING RESULTS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61104" y="1735386"/>
            <a:ext cx="4110385" cy="302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FAB536"/>
                </a:solidFill>
                <a:latin typeface="Arial"/>
                <a:ea typeface="Arial"/>
                <a:cs typeface="Arial"/>
                <a:sym typeface="Arial"/>
              </a:rPr>
              <a:t>MINK% for Pre FT, FT, Unlearned GPT-MED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351616" y="1735386"/>
            <a:ext cx="4173231" cy="302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FAB536"/>
                </a:solidFill>
                <a:latin typeface="Arial"/>
                <a:ea typeface="Arial"/>
                <a:cs typeface="Arial"/>
                <a:sym typeface="Arial"/>
              </a:rPr>
              <a:t>MINK++ for Pre FT, FT, Unlearned GPT-MED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DAGYruraz2k</dc:identifier>
  <dcterms:modified xsi:type="dcterms:W3CDTF">2011-08-01T06:04:30Z</dcterms:modified>
  <cp:revision>1</cp:revision>
  <dc:title>White Illustrative Technology Presentation</dc:title>
</cp:coreProperties>
</file>